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roxima Nova" panose="020B0604020202020204" charset="0"/>
      <p:regular r:id="rId11"/>
    </p:embeddedFont>
    <p:embeddedFont>
      <p:font typeface="Proxima Nova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-546081"/>
            <a:ext cx="7170382" cy="7170382"/>
          </a:xfrm>
          <a:custGeom>
            <a:avLst/>
            <a:gdLst/>
            <a:ahLst/>
            <a:cxnLst/>
            <a:rect l="l" t="t" r="r" b="b"/>
            <a:pathLst>
              <a:path w="7170382" h="7170382">
                <a:moveTo>
                  <a:pt x="0" y="0"/>
                </a:moveTo>
                <a:lnTo>
                  <a:pt x="7170382" y="0"/>
                </a:lnTo>
                <a:lnTo>
                  <a:pt x="7170382" y="7170382"/>
                </a:lnTo>
                <a:lnTo>
                  <a:pt x="0" y="7170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11518" y="9103677"/>
            <a:ext cx="432108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Creators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1518" y="9346248"/>
            <a:ext cx="43210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Eni Ferizi, Amin Durguti, Marcel Zuhhman</a:t>
            </a:r>
          </a:p>
        </p:txBody>
      </p:sp>
      <p:sp>
        <p:nvSpPr>
          <p:cNvPr id="6" name="Freeform 6"/>
          <p:cNvSpPr/>
          <p:nvPr/>
        </p:nvSpPr>
        <p:spPr>
          <a:xfrm>
            <a:off x="5540872" y="5143500"/>
            <a:ext cx="7233619" cy="4424564"/>
          </a:xfrm>
          <a:custGeom>
            <a:avLst/>
            <a:gdLst/>
            <a:ahLst/>
            <a:cxnLst/>
            <a:rect l="l" t="t" r="r" b="b"/>
            <a:pathLst>
              <a:path w="7233619" h="4424564">
                <a:moveTo>
                  <a:pt x="0" y="0"/>
                </a:moveTo>
                <a:lnTo>
                  <a:pt x="7233619" y="0"/>
                </a:lnTo>
                <a:lnTo>
                  <a:pt x="7233619" y="4424564"/>
                </a:lnTo>
                <a:lnTo>
                  <a:pt x="0" y="4424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253216" y="5304309"/>
            <a:ext cx="5808931" cy="3704626"/>
            <a:chOff x="0" y="0"/>
            <a:chExt cx="1300176" cy="8291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0176" cy="829183"/>
            </a:xfrm>
            <a:custGeom>
              <a:avLst/>
              <a:gdLst/>
              <a:ahLst/>
              <a:cxnLst/>
              <a:rect l="l" t="t" r="r" b="b"/>
              <a:pathLst>
                <a:path w="1300176" h="829183">
                  <a:moveTo>
                    <a:pt x="0" y="0"/>
                  </a:moveTo>
                  <a:lnTo>
                    <a:pt x="1300176" y="0"/>
                  </a:lnTo>
                  <a:lnTo>
                    <a:pt x="1300176" y="829183"/>
                  </a:lnTo>
                  <a:lnTo>
                    <a:pt x="0" y="829183"/>
                  </a:lnTo>
                  <a:close/>
                </a:path>
              </a:pathLst>
            </a:custGeom>
            <a:blipFill>
              <a:blip r:embed="rId4"/>
              <a:stretch>
                <a:fillRect l="-2815" r="-28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991335" y="2639060"/>
            <a:ext cx="1460074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8500" b="1" spc="-17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Welcome 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31242" y="3637728"/>
            <a:ext cx="7497949" cy="40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Turning insights into </a:t>
            </a:r>
            <a:r>
              <a:rPr lang="en-US" sz="2371" b="1">
                <a:solidFill>
                  <a:srgbClr val="0072B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actionable </a:t>
            </a:r>
            <a:r>
              <a:rPr lang="en-US" sz="2371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5775" y="675323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889406" y="8038618"/>
            <a:ext cx="2912819" cy="2912819"/>
          </a:xfrm>
          <a:custGeom>
            <a:avLst/>
            <a:gdLst/>
            <a:ahLst/>
            <a:cxnLst/>
            <a:rect l="l" t="t" r="r" b="b"/>
            <a:pathLst>
              <a:path w="2912819" h="2912819">
                <a:moveTo>
                  <a:pt x="0" y="0"/>
                </a:moveTo>
                <a:lnTo>
                  <a:pt x="2912819" y="0"/>
                </a:lnTo>
                <a:lnTo>
                  <a:pt x="2912819" y="2912820"/>
                </a:lnTo>
                <a:lnTo>
                  <a:pt x="0" y="291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6000">
            <a:off x="3861685" y="6781346"/>
            <a:ext cx="10564630" cy="2722895"/>
          </a:xfrm>
          <a:custGeom>
            <a:avLst/>
            <a:gdLst/>
            <a:ahLst/>
            <a:cxnLst/>
            <a:rect l="l" t="t" r="r" b="b"/>
            <a:pathLst>
              <a:path w="10564630" h="2722895">
                <a:moveTo>
                  <a:pt x="0" y="18430"/>
                </a:moveTo>
                <a:lnTo>
                  <a:pt x="10559910" y="0"/>
                </a:lnTo>
                <a:lnTo>
                  <a:pt x="10564630" y="2704465"/>
                </a:lnTo>
                <a:lnTo>
                  <a:pt x="4720" y="2722895"/>
                </a:lnTo>
                <a:lnTo>
                  <a:pt x="0" y="18430"/>
                </a:lnTo>
                <a:close/>
              </a:path>
            </a:pathLst>
          </a:custGeom>
          <a:blipFill>
            <a:blip r:embed="rId3"/>
            <a:stretch>
              <a:fillRect l="-3206" t="-8681" b="-89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28159" y="1582980"/>
            <a:ext cx="6904663" cy="2803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7957" b="1" spc="-15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The Problem</a:t>
            </a:r>
          </a:p>
          <a:p>
            <a:pPr algn="l">
              <a:lnSpc>
                <a:spcPts val="7161"/>
              </a:lnSpc>
            </a:pPr>
            <a:endParaRPr lang="en-US" sz="7957" b="1" spc="-159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marL="0" lvl="0" indent="0" algn="l">
              <a:lnSpc>
                <a:spcPts val="7161"/>
              </a:lnSpc>
              <a:spcBef>
                <a:spcPct val="0"/>
              </a:spcBef>
            </a:pPr>
            <a:endParaRPr lang="en-US" sz="7957" b="1" spc="-159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28783" y="2867981"/>
            <a:ext cx="14815698" cy="180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12"/>
              </a:lnSpc>
            </a:pPr>
            <a:r>
              <a:rPr lang="en-US" sz="3208" spc="-3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 today’s crowded digital landscape, niche content alone is not enough. Even high-quality content can get lost if the website:</a:t>
            </a:r>
          </a:p>
          <a:p>
            <a:pPr algn="just">
              <a:lnSpc>
                <a:spcPts val="4812"/>
              </a:lnSpc>
            </a:pPr>
            <a:endParaRPr lang="en-US" sz="3208" spc="-32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58651" y="4282952"/>
            <a:ext cx="1140264" cy="69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731"/>
              </a:lnSpc>
              <a:spcBef>
                <a:spcPct val="0"/>
              </a:spcBef>
            </a:pPr>
            <a:r>
              <a:rPr lang="en-US" sz="4093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08420" y="4434717"/>
            <a:ext cx="7786516" cy="7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Has poor user experience</a:t>
            </a:r>
          </a:p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endParaRPr lang="en-US" sz="2199" spc="-21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94345" y="4449762"/>
            <a:ext cx="7786516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199" spc="-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Lacks visibility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13991" y="4434717"/>
            <a:ext cx="7786516" cy="7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Has ineffective layout or structure</a:t>
            </a:r>
          </a:p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endParaRPr lang="en-US" sz="2199" spc="-21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31546" y="4282952"/>
            <a:ext cx="1140264" cy="69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731"/>
              </a:lnSpc>
              <a:spcBef>
                <a:spcPct val="0"/>
              </a:spcBef>
            </a:pPr>
            <a:r>
              <a:rPr lang="en-US" sz="4093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64177" y="4282952"/>
            <a:ext cx="1140264" cy="69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731"/>
              </a:lnSpc>
              <a:spcBef>
                <a:spcPct val="0"/>
              </a:spcBef>
            </a:pPr>
            <a:r>
              <a:rPr lang="en-US" sz="4093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8783" y="5237798"/>
            <a:ext cx="14815698" cy="119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12"/>
              </a:lnSpc>
            </a:pPr>
            <a:r>
              <a:rPr lang="en-US" sz="3208" spc="-3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Creators need a holistic approach to ensure their website stands out, engages visitors, and ranks well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5775" y="675323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889406" y="8038618"/>
            <a:ext cx="2912819" cy="2912819"/>
          </a:xfrm>
          <a:custGeom>
            <a:avLst/>
            <a:gdLst/>
            <a:ahLst/>
            <a:cxnLst/>
            <a:rect l="l" t="t" r="r" b="b"/>
            <a:pathLst>
              <a:path w="2912819" h="2912819">
                <a:moveTo>
                  <a:pt x="0" y="0"/>
                </a:moveTo>
                <a:lnTo>
                  <a:pt x="2912819" y="0"/>
                </a:lnTo>
                <a:lnTo>
                  <a:pt x="2912819" y="2912820"/>
                </a:lnTo>
                <a:lnTo>
                  <a:pt x="0" y="291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094550" y="7159400"/>
            <a:ext cx="2098900" cy="2098900"/>
          </a:xfrm>
          <a:custGeom>
            <a:avLst/>
            <a:gdLst/>
            <a:ahLst/>
            <a:cxnLst/>
            <a:rect l="l" t="t" r="r" b="b"/>
            <a:pathLst>
              <a:path w="2098900" h="2098900">
                <a:moveTo>
                  <a:pt x="0" y="0"/>
                </a:moveTo>
                <a:lnTo>
                  <a:pt x="2098900" y="0"/>
                </a:lnTo>
                <a:lnTo>
                  <a:pt x="2098900" y="2098900"/>
                </a:lnTo>
                <a:lnTo>
                  <a:pt x="0" y="209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28159" y="1582980"/>
            <a:ext cx="6904663" cy="189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7957" b="1" spc="-15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The Challenge</a:t>
            </a:r>
          </a:p>
          <a:p>
            <a:pPr marL="0" lvl="0" indent="0" algn="l">
              <a:lnSpc>
                <a:spcPts val="7161"/>
              </a:lnSpc>
              <a:spcBef>
                <a:spcPct val="0"/>
              </a:spcBef>
            </a:pPr>
            <a:endParaRPr lang="en-US" sz="7957" b="1" spc="-159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87673" y="3240905"/>
            <a:ext cx="14645829" cy="328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2920" spc="-2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</a:t>
            </a:r>
            <a:r>
              <a:rPr lang="en-US" sz="2920" spc="-29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WEBBOOST </a:t>
            </a:r>
            <a:r>
              <a:rPr lang="en-US" sz="2920" spc="-2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challenge was to create a tool that analyzes a creator’s website and generates practical recommendations to improve content, user experience, and overall website performance </a:t>
            </a:r>
            <a:r>
              <a:rPr lang="en-US" sz="2920" spc="-29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without relying on external or social media data.</a:t>
            </a:r>
          </a:p>
          <a:p>
            <a:pPr algn="l">
              <a:lnSpc>
                <a:spcPts val="4381"/>
              </a:lnSpc>
            </a:pPr>
            <a:endParaRPr lang="en-US" sz="2920" spc="-29">
              <a:solidFill>
                <a:srgbClr val="0072B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l">
              <a:lnSpc>
                <a:spcPts val="4381"/>
              </a:lnSpc>
            </a:pPr>
            <a:r>
              <a:rPr lang="en-US" sz="2920" spc="-2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For example, </a:t>
            </a:r>
            <a:r>
              <a:rPr lang="en-US" sz="2920" spc="-29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food blogs </a:t>
            </a:r>
            <a:r>
              <a:rPr lang="en-US" sz="2920" spc="-2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or </a:t>
            </a:r>
            <a:r>
              <a:rPr lang="en-US" sz="2920" spc="-29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recipe websites</a:t>
            </a:r>
            <a:r>
              <a:rPr lang="en-US" sz="2920" spc="-2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could benefit from insights on readability, content depth, and layout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5775" y="675323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889406" y="8038618"/>
            <a:ext cx="2912819" cy="2912819"/>
          </a:xfrm>
          <a:custGeom>
            <a:avLst/>
            <a:gdLst/>
            <a:ahLst/>
            <a:cxnLst/>
            <a:rect l="l" t="t" r="r" b="b"/>
            <a:pathLst>
              <a:path w="2912819" h="2912819">
                <a:moveTo>
                  <a:pt x="0" y="0"/>
                </a:moveTo>
                <a:lnTo>
                  <a:pt x="2912819" y="0"/>
                </a:lnTo>
                <a:lnTo>
                  <a:pt x="2912819" y="2912820"/>
                </a:lnTo>
                <a:lnTo>
                  <a:pt x="0" y="291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750000">
            <a:off x="1952898" y="4690330"/>
            <a:ext cx="12818795" cy="6099831"/>
          </a:xfrm>
          <a:custGeom>
            <a:avLst/>
            <a:gdLst/>
            <a:ahLst/>
            <a:cxnLst/>
            <a:rect l="l" t="t" r="r" b="b"/>
            <a:pathLst>
              <a:path w="12818795" h="6099831">
                <a:moveTo>
                  <a:pt x="759609" y="0"/>
                </a:moveTo>
                <a:lnTo>
                  <a:pt x="12818795" y="2673457"/>
                </a:lnTo>
                <a:lnTo>
                  <a:pt x="12059186" y="6099831"/>
                </a:lnTo>
                <a:lnTo>
                  <a:pt x="0" y="3426374"/>
                </a:lnTo>
                <a:lnTo>
                  <a:pt x="759609" y="0"/>
                </a:lnTo>
                <a:close/>
              </a:path>
            </a:pathLst>
          </a:custGeom>
          <a:blipFill>
            <a:blip r:embed="rId3"/>
            <a:stretch>
              <a:fillRect l="-12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28159" y="1582980"/>
            <a:ext cx="1317511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1"/>
              </a:lnSpc>
              <a:spcBef>
                <a:spcPct val="0"/>
              </a:spcBef>
            </a:pPr>
            <a:r>
              <a:rPr lang="en-US" sz="7957" b="1" spc="-159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Our Solution - </a:t>
            </a:r>
            <a:r>
              <a:rPr lang="en-US" sz="7957" b="1" spc="-159" dirty="0" err="1">
                <a:solidFill>
                  <a:srgbClr val="0072B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TUMetrics</a:t>
            </a:r>
            <a:endParaRPr lang="en-US" sz="7957" b="1" spc="-159" dirty="0">
              <a:solidFill>
                <a:srgbClr val="0072BD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86307" y="3131773"/>
            <a:ext cx="13830797" cy="202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1"/>
              </a:lnSpc>
            </a:pPr>
            <a:r>
              <a:rPr lang="en-US" sz="2734" spc="-27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TUMmetrics</a:t>
            </a:r>
            <a:r>
              <a:rPr lang="en-US" sz="2734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evaluates blogging websites across key performance criteria, assigns a score out of </a:t>
            </a:r>
            <a:r>
              <a:rPr lang="en-US" sz="2734" spc="-27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100</a:t>
            </a:r>
            <a:r>
              <a:rPr lang="en-US" sz="2734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and provides </a:t>
            </a:r>
            <a:r>
              <a:rPr lang="en-US" sz="2734" spc="-27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AI</a:t>
            </a:r>
            <a:r>
              <a:rPr lang="en-US" sz="2734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-US" sz="2734" spc="-27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powered </a:t>
            </a:r>
            <a:r>
              <a:rPr lang="en-US" sz="2734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recommendations for improvement.</a:t>
            </a:r>
          </a:p>
          <a:p>
            <a:pPr algn="l">
              <a:lnSpc>
                <a:spcPts val="4101"/>
              </a:lnSpc>
            </a:pPr>
            <a:r>
              <a:rPr lang="en-US" sz="2734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It allows creators to quickly understand where their site is strong and where it needs improvement, helping them optimize their websites for readers and search engines alike.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5082799"/>
            <a:ext cx="7786516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675323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091314" y="2685790"/>
            <a:ext cx="14523035" cy="1273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9"/>
              </a:lnSpc>
            </a:pPr>
            <a:r>
              <a:rPr lang="en-US" sz="3473" spc="-34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TUMmetrics</a:t>
            </a:r>
            <a:r>
              <a:rPr lang="en-US" sz="3473" spc="-3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evaluates websites based on </a:t>
            </a:r>
            <a:r>
              <a:rPr lang="en-US" sz="3473" spc="-3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eight </a:t>
            </a:r>
            <a:r>
              <a:rPr lang="en-US" sz="3473" spc="-3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main criteria:</a:t>
            </a:r>
          </a:p>
          <a:p>
            <a:pPr algn="l">
              <a:lnSpc>
                <a:spcPts val="5209"/>
              </a:lnSpc>
            </a:pPr>
            <a:endParaRPr lang="en-US" sz="3473" spc="-34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524891" y="3298824"/>
            <a:ext cx="13056163" cy="464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1. </a:t>
            </a:r>
            <a:r>
              <a:rPr lang="en-US" sz="2497" u="none" strike="noStrike" spc="-2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*SEO Title Optimization*</a:t>
            </a: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Are titles the right length for search engines?</a:t>
            </a:r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2. </a:t>
            </a:r>
            <a:r>
              <a:rPr lang="en-US" sz="2497" u="none" strike="noStrike" spc="-2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*Image Accessibility*</a:t>
            </a: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Are images missing Alt tags?</a:t>
            </a:r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3. </a:t>
            </a:r>
            <a:r>
              <a:rPr lang="en-US" sz="2497" u="none" strike="noStrike" spc="-2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*Content Depth*</a:t>
            </a: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Does the article meet a minimum word count?</a:t>
            </a:r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4. </a:t>
            </a:r>
            <a:r>
              <a:rPr lang="en-US" sz="2497" u="none" strike="noStrike" spc="-2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*UX Readability*</a:t>
            </a: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Are paragraphs readable and not too long?</a:t>
            </a:r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5. </a:t>
            </a:r>
            <a:r>
              <a:rPr lang="en-US" sz="2497" u="none" strike="noStrike" spc="-2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*Link Visibility* </a:t>
            </a: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Are internal and external links properly structured?</a:t>
            </a:r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6. </a:t>
            </a:r>
            <a:r>
              <a:rPr lang="en-US" sz="2497" u="none" strike="noStrike" spc="-2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*Website Layout (Mobile)*</a:t>
            </a: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Is the site mobile-friendly?</a:t>
            </a:r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7. </a:t>
            </a:r>
            <a:r>
              <a:rPr lang="en-US" sz="2497" u="none" strike="noStrike" spc="-2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*Search Time (UX)*</a:t>
            </a: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How long until the user finds what it needs?</a:t>
            </a:r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8. </a:t>
            </a:r>
            <a:r>
              <a:rPr lang="en-US" sz="2497" u="none" strike="noStrike" spc="-24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*Annoyance Level (Ads)* </a:t>
            </a:r>
            <a:r>
              <a:rPr lang="en-US" sz="2497" u="none" strike="noStrike" spc="-24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Do ads interfere with user experience?</a:t>
            </a:r>
          </a:p>
          <a:p>
            <a:pPr marL="0" lvl="0" indent="0" algn="l">
              <a:lnSpc>
                <a:spcPts val="3746"/>
              </a:lnSpc>
              <a:spcBef>
                <a:spcPct val="0"/>
              </a:spcBef>
            </a:pPr>
            <a:endParaRPr lang="en-US" sz="2497" u="none" strike="noStrike" spc="-24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889406" y="8038618"/>
            <a:ext cx="2912819" cy="2912819"/>
          </a:xfrm>
          <a:custGeom>
            <a:avLst/>
            <a:gdLst/>
            <a:ahLst/>
            <a:cxnLst/>
            <a:rect l="l" t="t" r="r" b="b"/>
            <a:pathLst>
              <a:path w="2912819" h="2912819">
                <a:moveTo>
                  <a:pt x="0" y="0"/>
                </a:moveTo>
                <a:lnTo>
                  <a:pt x="2912819" y="0"/>
                </a:lnTo>
                <a:lnTo>
                  <a:pt x="2912819" y="2912820"/>
                </a:lnTo>
                <a:lnTo>
                  <a:pt x="0" y="291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971999" y="7618405"/>
            <a:ext cx="6807017" cy="2184491"/>
          </a:xfrm>
          <a:custGeom>
            <a:avLst/>
            <a:gdLst/>
            <a:ahLst/>
            <a:cxnLst/>
            <a:rect l="l" t="t" r="r" b="b"/>
            <a:pathLst>
              <a:path w="6807017" h="2184491">
                <a:moveTo>
                  <a:pt x="0" y="0"/>
                </a:moveTo>
                <a:lnTo>
                  <a:pt x="6807017" y="0"/>
                </a:lnTo>
                <a:lnTo>
                  <a:pt x="6807017" y="2184491"/>
                </a:lnTo>
                <a:lnTo>
                  <a:pt x="0" y="2184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19" b="-107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28159" y="1582980"/>
            <a:ext cx="6904663" cy="98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1"/>
              </a:lnSpc>
              <a:spcBef>
                <a:spcPct val="0"/>
              </a:spcBef>
            </a:pPr>
            <a:r>
              <a:rPr lang="en-US" sz="7957" b="1" spc="-159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It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675323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889406" y="8038618"/>
            <a:ext cx="2912819" cy="2912819"/>
          </a:xfrm>
          <a:custGeom>
            <a:avLst/>
            <a:gdLst/>
            <a:ahLst/>
            <a:cxnLst/>
            <a:rect l="l" t="t" r="r" b="b"/>
            <a:pathLst>
              <a:path w="2912819" h="2912819">
                <a:moveTo>
                  <a:pt x="0" y="0"/>
                </a:moveTo>
                <a:lnTo>
                  <a:pt x="2912819" y="0"/>
                </a:lnTo>
                <a:lnTo>
                  <a:pt x="2912819" y="2912820"/>
                </a:lnTo>
                <a:lnTo>
                  <a:pt x="0" y="291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289999">
            <a:off x="5583798" y="6536454"/>
            <a:ext cx="6678213" cy="4234979"/>
          </a:xfrm>
          <a:custGeom>
            <a:avLst/>
            <a:gdLst/>
            <a:ahLst/>
            <a:cxnLst/>
            <a:rect l="l" t="t" r="r" b="b"/>
            <a:pathLst>
              <a:path w="6678213" h="4234979">
                <a:moveTo>
                  <a:pt x="748046" y="0"/>
                </a:moveTo>
                <a:lnTo>
                  <a:pt x="6678214" y="2335956"/>
                </a:lnTo>
                <a:lnTo>
                  <a:pt x="5930168" y="4234979"/>
                </a:lnTo>
                <a:lnTo>
                  <a:pt x="0" y="1899024"/>
                </a:lnTo>
                <a:lnTo>
                  <a:pt x="748046" y="0"/>
                </a:lnTo>
                <a:close/>
              </a:path>
            </a:pathLst>
          </a:custGeom>
          <a:blipFill>
            <a:blip r:embed="rId3"/>
            <a:stretch>
              <a:fillRect l="-499" t="-12002" r="-222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28159" y="1582980"/>
            <a:ext cx="8710162" cy="98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1"/>
              </a:lnSpc>
              <a:spcBef>
                <a:spcPct val="0"/>
              </a:spcBef>
            </a:pPr>
            <a:r>
              <a:rPr lang="en-US" sz="7957" b="1" spc="-15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Special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22905" y="2445384"/>
            <a:ext cx="7786516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3237095" y="5714300"/>
            <a:ext cx="11082774" cy="119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3226" b="1" spc="-32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AI-Powered Recommendations:</a:t>
            </a:r>
          </a:p>
          <a:p>
            <a:pPr marL="0" lvl="0" indent="0" algn="l">
              <a:lnSpc>
                <a:spcPts val="4840"/>
              </a:lnSpc>
              <a:spcBef>
                <a:spcPct val="0"/>
              </a:spcBef>
            </a:pPr>
            <a:endParaRPr lang="en-US" sz="3226" b="1" spc="-32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45513" y="3652697"/>
            <a:ext cx="139271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5000" u="none" strike="noStrike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7465" y="2723514"/>
            <a:ext cx="12730880" cy="68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2"/>
              </a:lnSpc>
              <a:spcBef>
                <a:spcPct val="0"/>
              </a:spcBef>
            </a:pPr>
            <a:r>
              <a:rPr lang="en-US" sz="3828" spc="-38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These are a few of the </a:t>
            </a:r>
            <a:r>
              <a:rPr lang="en-US" sz="3828" spc="-38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main </a:t>
            </a:r>
            <a:r>
              <a:rPr lang="en-US" sz="3828" spc="-38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features that set us apart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34116" y="3790657"/>
            <a:ext cx="5247884" cy="565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44"/>
              </a:lnSpc>
              <a:spcBef>
                <a:spcPct val="0"/>
              </a:spcBef>
            </a:pPr>
            <a:r>
              <a:rPr lang="en-US" sz="3296" b="1" spc="-32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Top 5 Blogging Websites: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37095" y="4464305"/>
            <a:ext cx="11371620" cy="101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755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Discover how your website </a:t>
            </a:r>
            <a:r>
              <a:rPr lang="en-US" sz="2755" spc="-27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ranks </a:t>
            </a:r>
            <a:r>
              <a:rPr lang="en-US" sz="2755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compared to the top blogs in your niche, and get insights on the most </a:t>
            </a:r>
            <a:r>
              <a:rPr lang="en-US" sz="2755" spc="-27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relevant </a:t>
            </a:r>
            <a:r>
              <a:rPr lang="en-US" sz="2755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platforms to follow and engage with.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5513" y="5494077"/>
            <a:ext cx="139271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5000" u="none" strike="noStrike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37095" y="6281477"/>
            <a:ext cx="11336648" cy="1017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9"/>
              </a:lnSpc>
              <a:spcBef>
                <a:spcPct val="0"/>
              </a:spcBef>
            </a:pPr>
            <a:r>
              <a:rPr lang="en-US" sz="2746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With help from </a:t>
            </a:r>
            <a:r>
              <a:rPr lang="en-US" sz="2746" spc="-27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Gemini </a:t>
            </a:r>
            <a:r>
              <a:rPr lang="en-US" sz="2746" spc="-27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AI analyzes your website, explains issues in plain language, and suggests actionable improvements for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5775" y="675323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889406" y="8038618"/>
            <a:ext cx="2912819" cy="2912819"/>
          </a:xfrm>
          <a:custGeom>
            <a:avLst/>
            <a:gdLst/>
            <a:ahLst/>
            <a:cxnLst/>
            <a:rect l="l" t="t" r="r" b="b"/>
            <a:pathLst>
              <a:path w="2912819" h="2912819">
                <a:moveTo>
                  <a:pt x="0" y="0"/>
                </a:moveTo>
                <a:lnTo>
                  <a:pt x="2912819" y="0"/>
                </a:lnTo>
                <a:lnTo>
                  <a:pt x="2912819" y="2912820"/>
                </a:lnTo>
                <a:lnTo>
                  <a:pt x="0" y="291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644062" y="5662903"/>
            <a:ext cx="9349913" cy="698613"/>
            <a:chOff x="0" y="0"/>
            <a:chExt cx="2462529" cy="1839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2529" cy="183997"/>
            </a:xfrm>
            <a:custGeom>
              <a:avLst/>
              <a:gdLst/>
              <a:ahLst/>
              <a:cxnLst/>
              <a:rect l="l" t="t" r="r" b="b"/>
              <a:pathLst>
                <a:path w="2462529" h="183997">
                  <a:moveTo>
                    <a:pt x="42229" y="0"/>
                  </a:moveTo>
                  <a:lnTo>
                    <a:pt x="2420300" y="0"/>
                  </a:lnTo>
                  <a:cubicBezTo>
                    <a:pt x="2443622" y="0"/>
                    <a:pt x="2462529" y="18907"/>
                    <a:pt x="2462529" y="42229"/>
                  </a:cubicBezTo>
                  <a:lnTo>
                    <a:pt x="2462529" y="141768"/>
                  </a:lnTo>
                  <a:cubicBezTo>
                    <a:pt x="2462529" y="165090"/>
                    <a:pt x="2443622" y="183997"/>
                    <a:pt x="2420300" y="183997"/>
                  </a:cubicBezTo>
                  <a:lnTo>
                    <a:pt x="42229" y="183997"/>
                  </a:lnTo>
                  <a:cubicBezTo>
                    <a:pt x="18907" y="183997"/>
                    <a:pt x="0" y="165090"/>
                    <a:pt x="0" y="141768"/>
                  </a:cubicBezTo>
                  <a:lnTo>
                    <a:pt x="0" y="42229"/>
                  </a:lnTo>
                  <a:cubicBezTo>
                    <a:pt x="0" y="18907"/>
                    <a:pt x="18907" y="0"/>
                    <a:pt x="42229" y="0"/>
                  </a:cubicBezTo>
                  <a:close/>
                </a:path>
              </a:pathLst>
            </a:custGeom>
            <a:solidFill>
              <a:srgbClr val="006D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462529" cy="231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0"/>
                </a:lnSpc>
              </a:pPr>
              <a:r>
                <a:rPr lang="en-US" sz="2371" b="1" dirty="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* Improve website readability and performance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28159" y="1582980"/>
            <a:ext cx="8710162" cy="98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1"/>
              </a:lnSpc>
              <a:spcBef>
                <a:spcPct val="0"/>
              </a:spcBef>
            </a:pPr>
            <a:r>
              <a:rPr lang="en-US" sz="7957" b="1" spc="-15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Results/Impact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58526" y="3106362"/>
            <a:ext cx="12730880" cy="87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2"/>
              </a:lnSpc>
              <a:spcBef>
                <a:spcPct val="0"/>
              </a:spcBef>
            </a:pPr>
            <a:r>
              <a:rPr lang="en-US" sz="4928" b="1" spc="-49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Using </a:t>
            </a:r>
            <a:r>
              <a:rPr lang="en-US" sz="4928" b="1" spc="-49" dirty="0" err="1">
                <a:solidFill>
                  <a:srgbClr val="0072B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TUMetrics</a:t>
            </a:r>
            <a:r>
              <a:rPr lang="en-US" sz="4928" b="1" spc="-49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, creators can: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636933" y="4661663"/>
            <a:ext cx="9349913" cy="698613"/>
            <a:chOff x="0" y="0"/>
            <a:chExt cx="2462529" cy="1839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62529" cy="183997"/>
            </a:xfrm>
            <a:custGeom>
              <a:avLst/>
              <a:gdLst/>
              <a:ahLst/>
              <a:cxnLst/>
              <a:rect l="l" t="t" r="r" b="b"/>
              <a:pathLst>
                <a:path w="2462529" h="183997">
                  <a:moveTo>
                    <a:pt x="42229" y="0"/>
                  </a:moveTo>
                  <a:lnTo>
                    <a:pt x="2420300" y="0"/>
                  </a:lnTo>
                  <a:cubicBezTo>
                    <a:pt x="2443622" y="0"/>
                    <a:pt x="2462529" y="18907"/>
                    <a:pt x="2462529" y="42229"/>
                  </a:cubicBezTo>
                  <a:lnTo>
                    <a:pt x="2462529" y="141768"/>
                  </a:lnTo>
                  <a:cubicBezTo>
                    <a:pt x="2462529" y="165090"/>
                    <a:pt x="2443622" y="183997"/>
                    <a:pt x="2420300" y="183997"/>
                  </a:cubicBezTo>
                  <a:lnTo>
                    <a:pt x="42229" y="183997"/>
                  </a:lnTo>
                  <a:cubicBezTo>
                    <a:pt x="18907" y="183997"/>
                    <a:pt x="0" y="165090"/>
                    <a:pt x="0" y="141768"/>
                  </a:cubicBezTo>
                  <a:lnTo>
                    <a:pt x="0" y="42229"/>
                  </a:lnTo>
                  <a:cubicBezTo>
                    <a:pt x="0" y="18907"/>
                    <a:pt x="18907" y="0"/>
                    <a:pt x="42229" y="0"/>
                  </a:cubicBezTo>
                  <a:close/>
                </a:path>
              </a:pathLst>
            </a:custGeom>
            <a:solidFill>
              <a:srgbClr val="006D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62529" cy="231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0"/>
                </a:lnSpc>
              </a:pPr>
              <a:r>
                <a:rPr lang="en-US" sz="2371" b="1" dirty="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* Quickly identify weaknesses in content, UX, and SEO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644062" y="7689312"/>
            <a:ext cx="9349913" cy="698613"/>
            <a:chOff x="0" y="0"/>
            <a:chExt cx="2462529" cy="1839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62529" cy="183997"/>
            </a:xfrm>
            <a:custGeom>
              <a:avLst/>
              <a:gdLst/>
              <a:ahLst/>
              <a:cxnLst/>
              <a:rect l="l" t="t" r="r" b="b"/>
              <a:pathLst>
                <a:path w="2462529" h="183997">
                  <a:moveTo>
                    <a:pt x="42229" y="0"/>
                  </a:moveTo>
                  <a:lnTo>
                    <a:pt x="2420300" y="0"/>
                  </a:lnTo>
                  <a:cubicBezTo>
                    <a:pt x="2443622" y="0"/>
                    <a:pt x="2462529" y="18907"/>
                    <a:pt x="2462529" y="42229"/>
                  </a:cubicBezTo>
                  <a:lnTo>
                    <a:pt x="2462529" y="141768"/>
                  </a:lnTo>
                  <a:cubicBezTo>
                    <a:pt x="2462529" y="165090"/>
                    <a:pt x="2443622" y="183997"/>
                    <a:pt x="2420300" y="183997"/>
                  </a:cubicBezTo>
                  <a:lnTo>
                    <a:pt x="42229" y="183997"/>
                  </a:lnTo>
                  <a:cubicBezTo>
                    <a:pt x="18907" y="183997"/>
                    <a:pt x="0" y="165090"/>
                    <a:pt x="0" y="141768"/>
                  </a:cubicBezTo>
                  <a:lnTo>
                    <a:pt x="0" y="42229"/>
                  </a:lnTo>
                  <a:cubicBezTo>
                    <a:pt x="0" y="18907"/>
                    <a:pt x="18907" y="0"/>
                    <a:pt x="42229" y="0"/>
                  </a:cubicBezTo>
                  <a:close/>
                </a:path>
              </a:pathLst>
            </a:custGeom>
            <a:solidFill>
              <a:srgbClr val="006D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462529" cy="231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0"/>
                </a:lnSpc>
              </a:pPr>
              <a:r>
                <a:rPr lang="en-US" sz="2371" b="1" dirty="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* Receive actionable AI recommendations to increase engagement.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36933" y="6666316"/>
            <a:ext cx="9349913" cy="698613"/>
            <a:chOff x="0" y="0"/>
            <a:chExt cx="2462529" cy="1839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62529" cy="183997"/>
            </a:xfrm>
            <a:custGeom>
              <a:avLst/>
              <a:gdLst/>
              <a:ahLst/>
              <a:cxnLst/>
              <a:rect l="l" t="t" r="r" b="b"/>
              <a:pathLst>
                <a:path w="2462529" h="183997">
                  <a:moveTo>
                    <a:pt x="42229" y="0"/>
                  </a:moveTo>
                  <a:lnTo>
                    <a:pt x="2420300" y="0"/>
                  </a:lnTo>
                  <a:cubicBezTo>
                    <a:pt x="2443622" y="0"/>
                    <a:pt x="2462529" y="18907"/>
                    <a:pt x="2462529" y="42229"/>
                  </a:cubicBezTo>
                  <a:lnTo>
                    <a:pt x="2462529" y="141768"/>
                  </a:lnTo>
                  <a:cubicBezTo>
                    <a:pt x="2462529" y="165090"/>
                    <a:pt x="2443622" y="183997"/>
                    <a:pt x="2420300" y="183997"/>
                  </a:cubicBezTo>
                  <a:lnTo>
                    <a:pt x="42229" y="183997"/>
                  </a:lnTo>
                  <a:cubicBezTo>
                    <a:pt x="18907" y="183997"/>
                    <a:pt x="0" y="165090"/>
                    <a:pt x="0" y="141768"/>
                  </a:cubicBezTo>
                  <a:lnTo>
                    <a:pt x="0" y="42229"/>
                  </a:lnTo>
                  <a:cubicBezTo>
                    <a:pt x="0" y="18907"/>
                    <a:pt x="18907" y="0"/>
                    <a:pt x="42229" y="0"/>
                  </a:cubicBezTo>
                  <a:close/>
                </a:path>
              </a:pathLst>
            </a:custGeom>
            <a:solidFill>
              <a:srgbClr val="006DB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462529" cy="231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0"/>
                </a:lnSpc>
              </a:pPr>
              <a:r>
                <a:rPr lang="en-US" sz="2371" b="1" dirty="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* Benchmark their site against the top 10 blogs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5775" y="675323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889406" y="8038618"/>
            <a:ext cx="2912819" cy="2912819"/>
          </a:xfrm>
          <a:custGeom>
            <a:avLst/>
            <a:gdLst/>
            <a:ahLst/>
            <a:cxnLst/>
            <a:rect l="l" t="t" r="r" b="b"/>
            <a:pathLst>
              <a:path w="2912819" h="2912819">
                <a:moveTo>
                  <a:pt x="0" y="0"/>
                </a:moveTo>
                <a:lnTo>
                  <a:pt x="2912819" y="0"/>
                </a:lnTo>
                <a:lnTo>
                  <a:pt x="2912819" y="2912820"/>
                </a:lnTo>
                <a:lnTo>
                  <a:pt x="0" y="291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716000" y="3456510"/>
            <a:ext cx="3067398" cy="2508380"/>
          </a:xfrm>
          <a:custGeom>
            <a:avLst/>
            <a:gdLst/>
            <a:ahLst/>
            <a:cxnLst/>
            <a:rect l="l" t="t" r="r" b="b"/>
            <a:pathLst>
              <a:path w="3114622" h="2951105">
                <a:moveTo>
                  <a:pt x="0" y="0"/>
                </a:moveTo>
                <a:lnTo>
                  <a:pt x="3114622" y="0"/>
                </a:lnTo>
                <a:lnTo>
                  <a:pt x="3114622" y="2951105"/>
                </a:lnTo>
                <a:lnTo>
                  <a:pt x="0" y="2951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128159" y="1582980"/>
            <a:ext cx="10027689" cy="98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1"/>
              </a:lnSpc>
              <a:spcBef>
                <a:spcPct val="0"/>
              </a:spcBef>
            </a:pPr>
            <a:r>
              <a:rPr lang="en-US" sz="7957" b="1" spc="-15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Future Improvements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62200" y="3456510"/>
            <a:ext cx="9689306" cy="36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2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4122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4122"/>
              </a:lnSpc>
              <a:spcBef>
                <a:spcPct val="0"/>
              </a:spcBef>
            </a:pPr>
            <a:r>
              <a:rPr lang="en-US" sz="2748" spc="-27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* Deeper analytics to detect trends in content and engagement</a:t>
            </a:r>
          </a:p>
          <a:p>
            <a:pPr algn="ctr">
              <a:lnSpc>
                <a:spcPts val="4122"/>
              </a:lnSpc>
              <a:spcBef>
                <a:spcPct val="0"/>
              </a:spcBef>
            </a:pPr>
            <a:r>
              <a:rPr lang="en-US" sz="2748" spc="-27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* Personalized recommendations for different blog niches</a:t>
            </a:r>
          </a:p>
          <a:p>
            <a:pPr algn="ctr">
              <a:lnSpc>
                <a:spcPts val="4122"/>
              </a:lnSpc>
              <a:spcBef>
                <a:spcPct val="0"/>
              </a:spcBef>
            </a:pPr>
            <a:r>
              <a:rPr lang="en-US" sz="2748" spc="-27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* Continuous monitoring to track improvements over time</a:t>
            </a:r>
          </a:p>
          <a:p>
            <a:pPr algn="ctr">
              <a:lnSpc>
                <a:spcPts val="4122"/>
              </a:lnSpc>
              <a:spcBef>
                <a:spcPct val="0"/>
              </a:spcBef>
            </a:pPr>
            <a:endParaRPr lang="en-US" sz="2748" b="1" spc="-27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1575032" y="2889623"/>
            <a:ext cx="12730880" cy="80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2"/>
              </a:lnSpc>
              <a:spcBef>
                <a:spcPct val="0"/>
              </a:spcBef>
            </a:pPr>
            <a:r>
              <a:rPr lang="en-US" sz="4528" b="1" spc="-4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Our </a:t>
            </a:r>
            <a:r>
              <a:rPr lang="en-US" sz="4528" b="1" spc="-45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roadmap </a:t>
            </a:r>
            <a:r>
              <a:rPr lang="en-US" sz="4528" b="1" spc="-4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includes: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6230" y="7131978"/>
            <a:ext cx="12730880" cy="140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2"/>
              </a:lnSpc>
              <a:spcBef>
                <a:spcPct val="0"/>
              </a:spcBef>
            </a:pPr>
            <a:r>
              <a:rPr lang="en-US" sz="3828" spc="-38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3828" spc="-38" dirty="0" err="1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TUMetrics</a:t>
            </a:r>
            <a:r>
              <a:rPr lang="en-US" sz="3828" spc="-38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3828" spc="-38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aims to evolve into a full-scale platform that helps creators grow and optimize their websites </a:t>
            </a:r>
            <a:r>
              <a:rPr lang="en-US" sz="3828" spc="-38" dirty="0">
                <a:solidFill>
                  <a:srgbClr val="0072BD"/>
                </a:solidFill>
                <a:latin typeface="Proxima Nova"/>
                <a:ea typeface="Proxima Nova"/>
                <a:cs typeface="Proxima Nova"/>
                <a:sym typeface="Proxima Nova"/>
              </a:rPr>
              <a:t>effectively</a:t>
            </a:r>
            <a:r>
              <a:rPr lang="en-US" sz="3828" spc="-38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826374-21F0-1CE6-5EC7-4F0E0A2A5C6C}"/>
              </a:ext>
            </a:extLst>
          </p:cNvPr>
          <p:cNvSpPr/>
          <p:nvPr/>
        </p:nvSpPr>
        <p:spPr>
          <a:xfrm>
            <a:off x="2362200" y="4382934"/>
            <a:ext cx="10058400" cy="2261960"/>
          </a:xfrm>
          <a:prstGeom prst="round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5775" y="675323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423980" y="6051926"/>
            <a:ext cx="3932526" cy="3178479"/>
          </a:xfrm>
          <a:custGeom>
            <a:avLst/>
            <a:gdLst/>
            <a:ahLst/>
            <a:cxnLst/>
            <a:rect l="l" t="t" r="r" b="b"/>
            <a:pathLst>
              <a:path w="3932526" h="3178479">
                <a:moveTo>
                  <a:pt x="0" y="0"/>
                </a:moveTo>
                <a:lnTo>
                  <a:pt x="3932526" y="0"/>
                </a:lnTo>
                <a:lnTo>
                  <a:pt x="3932526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28" r="-92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770285" y="6079821"/>
            <a:ext cx="3928787" cy="3122689"/>
          </a:xfrm>
          <a:custGeom>
            <a:avLst/>
            <a:gdLst/>
            <a:ahLst/>
            <a:cxnLst/>
            <a:rect l="l" t="t" r="r" b="b"/>
            <a:pathLst>
              <a:path w="3928787" h="3122689">
                <a:moveTo>
                  <a:pt x="0" y="0"/>
                </a:moveTo>
                <a:lnTo>
                  <a:pt x="3928787" y="0"/>
                </a:lnTo>
                <a:lnTo>
                  <a:pt x="3928787" y="3122689"/>
                </a:lnTo>
                <a:lnTo>
                  <a:pt x="0" y="3122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20" b="-39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410052" y="1441596"/>
            <a:ext cx="13467897" cy="979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1"/>
              </a:lnSpc>
              <a:spcBef>
                <a:spcPct val="0"/>
              </a:spcBef>
            </a:pPr>
            <a:r>
              <a:rPr lang="en-US" sz="7957" b="1" spc="-15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 for your </a:t>
            </a:r>
            <a:r>
              <a:rPr lang="en-US" sz="7957" b="1" spc="-159">
                <a:solidFill>
                  <a:srgbClr val="0072B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attention.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63955" y="2627342"/>
            <a:ext cx="9760090" cy="825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We really enjoyed this hackathon and are excited to see if our project comes out on top</a:t>
            </a:r>
          </a:p>
        </p:txBody>
      </p:sp>
      <p:sp>
        <p:nvSpPr>
          <p:cNvPr id="7" name="Freeform 7"/>
          <p:cNvSpPr/>
          <p:nvPr/>
        </p:nvSpPr>
        <p:spPr>
          <a:xfrm>
            <a:off x="4871696" y="454487"/>
            <a:ext cx="8544609" cy="8544609"/>
          </a:xfrm>
          <a:custGeom>
            <a:avLst/>
            <a:gdLst/>
            <a:ahLst/>
            <a:cxnLst/>
            <a:rect l="l" t="t" r="r" b="b"/>
            <a:pathLst>
              <a:path w="8544609" h="8544609">
                <a:moveTo>
                  <a:pt x="0" y="0"/>
                </a:moveTo>
                <a:lnTo>
                  <a:pt x="8544608" y="0"/>
                </a:lnTo>
                <a:lnTo>
                  <a:pt x="8544608" y="8544609"/>
                </a:lnTo>
                <a:lnTo>
                  <a:pt x="0" y="8544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520</Words>
  <Application>Microsoft Office PowerPoint</Application>
  <PresentationFormat>Custom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Proxima Nova</vt:lpstr>
      <vt:lpstr>Arial</vt:lpstr>
      <vt:lpstr>Proxima Nova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Gray Clean Product Launch Mockups Presentation</dc:title>
  <cp:lastModifiedBy>Amin Durguti</cp:lastModifiedBy>
  <cp:revision>3</cp:revision>
  <dcterms:created xsi:type="dcterms:W3CDTF">2006-08-16T00:00:00Z</dcterms:created>
  <dcterms:modified xsi:type="dcterms:W3CDTF">2026-01-31T13:58:19Z</dcterms:modified>
  <dc:identifier>DAG6BcLPeDo</dc:identifier>
</cp:coreProperties>
</file>